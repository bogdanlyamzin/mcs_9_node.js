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Запитайте студентів: які проблеми виникнуть, якщо просто скопіювати папку на сервер і виконати npm start?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Попросіть назвати по одному прикладу застосунку для кожної моделі виконання.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Підкресліть: категорії стабільніші за бренди. Для курсового Express API рекомендуйте PaaS як старт.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Зверніть увагу: liveness не повинна перевіряти БД, інакше можливий каскад перезапусків.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студентам 3–5 хвилин на обговорення у парах, потім зберіть аргументи й компроміси.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51E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548640"/>
            <a:ext cx="3063240" cy="502920"/>
          </a:xfrm>
          <a:prstGeom prst="line">
            <a:avLst/>
          </a:prstGeom>
          <a:noFill/>
          <a:ln w="27940">
            <a:solidFill>
              <a:srgbClr val="42D7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46634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1371600"/>
            <a:ext cx="3063240" cy="-438912"/>
          </a:xfrm>
          <a:prstGeom prst="line">
            <a:avLst/>
          </a:prstGeom>
          <a:noFill/>
          <a:ln w="15240">
            <a:solidFill>
              <a:srgbClr val="2C3C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128930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2194560"/>
            <a:ext cx="3063240" cy="502920"/>
          </a:xfrm>
          <a:prstGeom prst="line">
            <a:avLst/>
          </a:prstGeom>
          <a:noFill/>
          <a:ln w="15240">
            <a:solidFill>
              <a:srgbClr val="2C3C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21122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66760" y="3017520"/>
            <a:ext cx="3063240" cy="-438912"/>
          </a:xfrm>
          <a:prstGeom prst="line">
            <a:avLst/>
          </a:prstGeom>
          <a:noFill/>
          <a:ln w="27940">
            <a:solidFill>
              <a:srgbClr val="42D7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29352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3840480"/>
            <a:ext cx="3063240" cy="502920"/>
          </a:xfrm>
          <a:prstGeom prst="line">
            <a:avLst/>
          </a:prstGeom>
          <a:noFill/>
          <a:ln w="15240">
            <a:solidFill>
              <a:srgbClr val="2C3C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3758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4663440"/>
            <a:ext cx="3063240" cy="-438912"/>
          </a:xfrm>
          <a:prstGeom prst="line">
            <a:avLst/>
          </a:prstGeom>
          <a:noFill/>
          <a:ln w="15240">
            <a:solidFill>
              <a:srgbClr val="2C3C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0" y="458114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5486400"/>
            <a:ext cx="3063240" cy="502920"/>
          </a:xfrm>
          <a:prstGeom prst="line">
            <a:avLst/>
          </a:prstGeom>
          <a:noFill/>
          <a:ln w="27940">
            <a:solidFill>
              <a:srgbClr val="42D7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540410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6400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6492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УРОК • PRODUCTION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132588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Розгортання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застосунків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063240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 локального npm start — до надійного,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спостережуваного та масштабованого сервісу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8368" y="4892040"/>
            <a:ext cx="6263640" cy="749808"/>
          </a:xfrm>
          <a:prstGeom prst="roundRect">
            <a:avLst>
              <a:gd name="adj" fmla="val 2439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02352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Фокус: </a:t>
            </a:r>
            <a:pPr indent="0" marL="0">
              <a:buNone/>
            </a:pPr>
            <a:r>
              <a:rPr lang="en-US" sz="135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моделі виконання • платформи • Docker • CI/CD • observability • scaling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62636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ВСТУП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`npm start` — ще не deployment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Локальний запуск доводить, що код працює. Production має довести, що система витримає реальність.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920240"/>
            <a:ext cx="2788920" cy="3291840"/>
          </a:xfrm>
          <a:prstGeom prst="roundRect">
            <a:avLst>
              <a:gd name="adj" fmla="val 6557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6712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7627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Розробник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14400" y="3218688"/>
            <a:ext cx="21488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процес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ручний запуск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відоме середовище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помилка ≠ інцидент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94760" y="3383280"/>
            <a:ext cx="1417320" cy="0"/>
          </a:xfrm>
          <a:prstGeom prst="line">
            <a:avLst/>
          </a:prstGeom>
          <a:noFill/>
          <a:ln w="38100">
            <a:solidFill>
              <a:srgbClr val="42D7E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886200" y="29535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04688" y="1920240"/>
            <a:ext cx="5669280" cy="3291840"/>
          </a:xfrm>
          <a:prstGeom prst="roundRect">
            <a:avLst>
              <a:gd name="adj" fmla="val 5556"/>
            </a:avLst>
          </a:prstGeom>
          <a:solidFill>
            <a:srgbClr val="1C2944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1671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217627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5806440" y="3255264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61888" y="33467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33284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перезапуск після збою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21040" y="3255264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76488" y="33467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⇄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60536" y="33284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оновлення без простою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06440" y="4005072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61888" y="4096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40782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логи, метрики, алерти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21040" y="4005072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76488" y="4096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⌁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60536" y="40782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секрети й мережеві межі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" y="5532120"/>
            <a:ext cx="10515600" cy="502920"/>
          </a:xfrm>
          <a:prstGeom prst="roundRect">
            <a:avLst>
              <a:gd name="adj" fmla="val 25455"/>
            </a:avLst>
          </a:prstGeom>
          <a:solidFill>
            <a:srgbClr val="07101D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5641848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Питання до класу: що станеться після перезавантаження сервера?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ВИМОГИ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П’ять властивостей production-середовища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 не функції платформи «за замовчуванням», а свідомі інженерні рішення.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10561320" cy="621792"/>
          </a:xfrm>
          <a:prstGeom prst="roundRect">
            <a:avLst>
              <a:gd name="adj" fmla="val 23529"/>
            </a:avLst>
          </a:prstGeom>
          <a:solidFill>
            <a:srgbClr val="1C2944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0025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36192" y="2002536"/>
            <a:ext cx="0" cy="347472"/>
          </a:xfrm>
          <a:prstGeom prst="line">
            <a:avLst/>
          </a:prstGeom>
          <a:noFill/>
          <a:ln w="38100">
            <a:solidFill>
              <a:srgbClr val="42D7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92224" y="19751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Відтворюваність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97510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Той самий код → той самий результат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2679192"/>
            <a:ext cx="10561320" cy="621792"/>
          </a:xfrm>
          <a:prstGeom prst="roundRect">
            <a:avLst>
              <a:gd name="adj" fmla="val 23529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2807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36192" y="2807208"/>
            <a:ext cx="0" cy="347472"/>
          </a:xfrm>
          <a:prstGeom prst="line">
            <a:avLst/>
          </a:prstGeom>
          <a:noFill/>
          <a:ln w="38100">
            <a:solidFill>
              <a:srgbClr val="55D6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92224" y="27797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Доступність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77977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Запити обслуговуються під час оновлень і збоїв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3483864"/>
            <a:ext cx="10561320" cy="621792"/>
          </a:xfrm>
          <a:prstGeom prst="roundRect">
            <a:avLst>
              <a:gd name="adj" fmla="val 23529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3611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36192" y="3611880"/>
            <a:ext cx="0" cy="347472"/>
          </a:xfrm>
          <a:prstGeom prst="line">
            <a:avLst/>
          </a:prstGeom>
          <a:noFill/>
          <a:ln w="38100">
            <a:solidFill>
              <a:srgbClr val="5E8C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92224" y="3584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Спостережуваність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584448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Стан системи видно без SSH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4288536"/>
            <a:ext cx="10561320" cy="621792"/>
          </a:xfrm>
          <a:prstGeom prst="roundRect">
            <a:avLst>
              <a:gd name="adj" fmla="val 23529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4416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36192" y="4416552"/>
            <a:ext cx="0" cy="347472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92224" y="4389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Відновлюваність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438912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Відкат займає хвилини, не години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" y="5093208"/>
            <a:ext cx="10561320" cy="621792"/>
          </a:xfrm>
          <a:prstGeom prst="roundRect">
            <a:avLst>
              <a:gd name="adj" fmla="val 23529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" y="5221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536192" y="5221224"/>
            <a:ext cx="0" cy="347472"/>
          </a:xfrm>
          <a:prstGeom prst="line">
            <a:avLst/>
          </a:prstGeom>
          <a:noFill/>
          <a:ln w="38100">
            <a:solidFill>
              <a:srgbClr val="FF6B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792224" y="51937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Безпека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519379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Секрети, доступи й периметр контрольовані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МОДЕЛІ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Три моделі виконання коду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Топологія застосунку визначає, де його взагалі можна розгорнути.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3520440" cy="3611880"/>
          </a:xfrm>
          <a:prstGeom prst="roundRect">
            <a:avLst>
              <a:gd name="adj" fmla="val 415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74520"/>
            <a:ext cx="54864" cy="3611880"/>
          </a:xfrm>
          <a:prstGeom prst="rect">
            <a:avLst/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208483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208483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203911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Довготривалий процес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587752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слухає порт постійно.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WebSocket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пул БД у пам’яті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фонові таймери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Приклад: PaaS, IaaS, Kubernetes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4256" y="1874520"/>
            <a:ext cx="3520440" cy="3611880"/>
          </a:xfrm>
          <a:prstGeom prst="roundRect">
            <a:avLst>
              <a:gd name="adj" fmla="val 415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4256" y="1874520"/>
            <a:ext cx="54864" cy="3611880"/>
          </a:xfrm>
          <a:prstGeom prst="rect">
            <a:avLst/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35424" y="208483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35424" y="208483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47488" y="203911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Функція на запит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2587752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Платформа запускає handler під подію.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scale to zero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автоматичний scale out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cold start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немає гарантованого стану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Приклад: AWS Lambda, Vercel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8074152" y="1874520"/>
            <a:ext cx="3520440" cy="3611880"/>
          </a:xfrm>
          <a:prstGeom prst="roundRect">
            <a:avLst>
              <a:gd name="adj" fmla="val 415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4152" y="1874520"/>
            <a:ext cx="54864" cy="3611880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208483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208483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87384" y="203911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Edge-виконання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2587752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працює біля користувача у V8 isolates.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мінімальна затримка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швидкий старт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обмежений Node.js API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не всі npm-пакети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Приклад: Cloudflare Workers</a:t>
            </a:r>
            <a:endParaRPr lang="en-US" sz="136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0644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Проєктуємо архітектуру → обираємо модель → обираємо платформу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АРХІТЕКТУРА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Архітектурні рішення мають наслідки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П’ять типових залежностей, які обмежують варіанти розгортання.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ЗАЛЕЖНІСТЬ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РИЗИК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PRODUCTION-РІШЕННЯ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212848"/>
            <a:ext cx="10607040" cy="557784"/>
          </a:xfrm>
          <a:prstGeom prst="roundRect">
            <a:avLst>
              <a:gd name="adj" fmla="val 16393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3500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" y="2304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304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Потрібен довгоживучий процес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304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класичний FaaS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2935224"/>
            <a:ext cx="10607040" cy="557784"/>
          </a:xfrm>
          <a:prstGeom prst="roundRect">
            <a:avLst>
              <a:gd name="adj" fmla="val 16393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0723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8992" y="302666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Кеш у Map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3026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Різні інстанси не бачать один одного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026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/ база даних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3657600"/>
            <a:ext cx="10607040" cy="557784"/>
          </a:xfrm>
          <a:prstGeom prst="roundRect">
            <a:avLst>
              <a:gd name="adj" fmla="val 16393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794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37490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node-cron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Таймер зникає разом із процесом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E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Планувальник платформи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" y="4379976"/>
            <a:ext cx="10607040" cy="557784"/>
          </a:xfrm>
          <a:prstGeom prst="roundRect">
            <a:avLst>
              <a:gd name="adj" fmla="val 16393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5171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8992" y="447141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Локальні файли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3063240" y="4471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Диск контейнера ефемерний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44714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6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/ Cloudinary / GCS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58368" y="5102352"/>
            <a:ext cx="10607040" cy="557784"/>
          </a:xfrm>
          <a:prstGeom prst="roundRect">
            <a:avLst>
              <a:gd name="adj" fmla="val 16393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78992" y="519379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Пул БД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3063240" y="5193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 множить з’єднання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5193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5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PgBouncer / RDS Proxy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Платформа = розподіл відповідальності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Чим більше контролю залишає команда, тим більший операційний тягар.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194560"/>
            <a:ext cx="1783080" cy="1965960"/>
          </a:xfrm>
          <a:prstGeom prst="roundRect">
            <a:avLst>
              <a:gd name="adj" fmla="val 8205"/>
            </a:avLst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2611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4754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VM, мережа, 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1783080" cy="1673352"/>
          </a:xfrm>
          <a:prstGeom prst="roundRect">
            <a:avLst>
              <a:gd name="adj" fmla="val 8743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42611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2852928" y="4754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+ конфіг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66360" y="2779776"/>
            <a:ext cx="1783080" cy="1380744"/>
          </a:xfrm>
          <a:prstGeom prst="roundRect">
            <a:avLst>
              <a:gd name="adj" fmla="val 10596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6360" y="42611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4754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контейнери + кластер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3072384"/>
            <a:ext cx="1783080" cy="1088136"/>
          </a:xfrm>
          <a:prstGeom prst="roundRect">
            <a:avLst>
              <a:gd name="adj" fmla="val 13445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42611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FaaS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4754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окремі функції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46920" y="3364992"/>
            <a:ext cx="1783080" cy="795528"/>
          </a:xfrm>
          <a:prstGeom prst="roundRect">
            <a:avLst>
              <a:gd name="adj" fmla="val 18391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6920" y="42611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573768" y="4754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логіка біля користувача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5623560"/>
            <a:ext cx="10378440" cy="0"/>
          </a:xfrm>
          <a:prstGeom prst="line">
            <a:avLst/>
          </a:prstGeom>
          <a:noFill/>
          <a:ln w="2032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7724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БІЛЬШЕ КОНТРОЛЮ / OPS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760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6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БІЛЬШЕ АБСТРАКЦІЇ / МЕНШЕ OPS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ПОРІВНЯННЯ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Категорії платформ: швидка карта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Жодна модель не є «найкращою» — є відповідність конкретному сценарію.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901952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01168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Категорія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1901952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6352" y="20116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0" y="1901952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9392" y="201168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190195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71032" y="20116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Cold start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43800" y="1901952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16952" y="2011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Сильний сценарій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55480" y="1901952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28632" y="201168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2514600"/>
            <a:ext cx="210312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261518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2743200" y="251460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16352" y="261518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макс.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206240" y="2514600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79392" y="261518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високий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897880" y="2514600"/>
            <a:ext cx="155448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71032" y="2615184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немає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543800" y="2514600"/>
            <a:ext cx="192024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16952" y="26151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/ регуляції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9555480" y="2514600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28632" y="2615184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EC2, DO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594360" y="3127248"/>
            <a:ext cx="210312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" y="322783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2743200" y="3127248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16352" y="322783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середній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4206240" y="3127248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79392" y="3227832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низький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5897880" y="3127248"/>
            <a:ext cx="155448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71032" y="322783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немає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7543800" y="3127248"/>
            <a:ext cx="192024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16952" y="322783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 / MVP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9555480" y="3127248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28632" y="3227832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Render, Fly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594360" y="3739896"/>
            <a:ext cx="210312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7512" y="3840480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5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2743200" y="3739896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16352" y="3840480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високий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4206240" y="3739896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279392" y="3840480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високий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5897880" y="3739896"/>
            <a:ext cx="155448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71032" y="38404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немає</a:t>
            </a:r>
            <a:endParaRPr lang="en-US" sz="1120" dirty="0"/>
          </a:p>
        </p:txBody>
      </p:sp>
      <p:sp>
        <p:nvSpPr>
          <p:cNvPr id="54" name="Shape 52"/>
          <p:cNvSpPr/>
          <p:nvPr/>
        </p:nvSpPr>
        <p:spPr>
          <a:xfrm>
            <a:off x="7543800" y="3739896"/>
            <a:ext cx="192024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616952" y="384048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багато сервісів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9555480" y="3739896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628632" y="3840480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EKS, GKE</a:t>
            </a:r>
            <a:endParaRPr lang="en-US" sz="1120" dirty="0"/>
          </a:p>
        </p:txBody>
      </p:sp>
      <p:sp>
        <p:nvSpPr>
          <p:cNvPr id="58" name="Shape 56"/>
          <p:cNvSpPr/>
          <p:nvPr/>
        </p:nvSpPr>
        <p:spPr>
          <a:xfrm>
            <a:off x="594360" y="4352544"/>
            <a:ext cx="210312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67512" y="4453128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E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FaaS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2743200" y="4352544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816352" y="4453128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низький</a:t>
            </a:r>
            <a:endParaRPr lang="en-US" sz="1120" dirty="0"/>
          </a:p>
        </p:txBody>
      </p:sp>
      <p:sp>
        <p:nvSpPr>
          <p:cNvPr id="62" name="Shape 60"/>
          <p:cNvSpPr/>
          <p:nvPr/>
        </p:nvSpPr>
        <p:spPr>
          <a:xfrm>
            <a:off x="4206240" y="4352544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279392" y="4453128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мінім.</a:t>
            </a:r>
            <a:endParaRPr lang="en-US" sz="1120" dirty="0"/>
          </a:p>
        </p:txBody>
      </p:sp>
      <p:sp>
        <p:nvSpPr>
          <p:cNvPr id="64" name="Shape 62"/>
          <p:cNvSpPr/>
          <p:nvPr/>
        </p:nvSpPr>
        <p:spPr>
          <a:xfrm>
            <a:off x="5897880" y="4352544"/>
            <a:ext cx="155448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971032" y="44531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відчутний</a:t>
            </a:r>
            <a:endParaRPr lang="en-US" sz="1120" dirty="0"/>
          </a:p>
        </p:txBody>
      </p:sp>
      <p:sp>
        <p:nvSpPr>
          <p:cNvPr id="66" name="Shape 64"/>
          <p:cNvSpPr/>
          <p:nvPr/>
        </p:nvSpPr>
        <p:spPr>
          <a:xfrm>
            <a:off x="7543800" y="4352544"/>
            <a:ext cx="192024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616952" y="445312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події / вебхуки</a:t>
            </a:r>
            <a:endParaRPr lang="en-US" sz="1120" dirty="0"/>
          </a:p>
        </p:txBody>
      </p:sp>
      <p:sp>
        <p:nvSpPr>
          <p:cNvPr id="68" name="Shape 66"/>
          <p:cNvSpPr/>
          <p:nvPr/>
        </p:nvSpPr>
        <p:spPr>
          <a:xfrm>
            <a:off x="9555480" y="4352544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0182B"/>
          </a:solidFill>
          <a:ln w="12700">
            <a:solidFill>
              <a:srgbClr val="10182B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628632" y="4453128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</a:t>
            </a:r>
            <a:endParaRPr lang="en-US" sz="1120" dirty="0"/>
          </a:p>
        </p:txBody>
      </p:sp>
      <p:sp>
        <p:nvSpPr>
          <p:cNvPr id="70" name="Shape 68"/>
          <p:cNvSpPr/>
          <p:nvPr/>
        </p:nvSpPr>
        <p:spPr>
          <a:xfrm>
            <a:off x="594360" y="4965192"/>
            <a:ext cx="210312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67512" y="5065776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A6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1120" dirty="0"/>
          </a:p>
        </p:txBody>
      </p:sp>
      <p:sp>
        <p:nvSpPr>
          <p:cNvPr id="72" name="Shape 70"/>
          <p:cNvSpPr/>
          <p:nvPr/>
        </p:nvSpPr>
        <p:spPr>
          <a:xfrm>
            <a:off x="2743200" y="4965192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816352" y="5065776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низький</a:t>
            </a:r>
            <a:endParaRPr lang="en-US" sz="1120" dirty="0"/>
          </a:p>
        </p:txBody>
      </p:sp>
      <p:sp>
        <p:nvSpPr>
          <p:cNvPr id="74" name="Shape 72"/>
          <p:cNvSpPr/>
          <p:nvPr/>
        </p:nvSpPr>
        <p:spPr>
          <a:xfrm>
            <a:off x="4206240" y="4965192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279392" y="5065776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мінім.</a:t>
            </a:r>
            <a:endParaRPr lang="en-US" sz="1120" dirty="0"/>
          </a:p>
        </p:txBody>
      </p:sp>
      <p:sp>
        <p:nvSpPr>
          <p:cNvPr id="76" name="Shape 74"/>
          <p:cNvSpPr/>
          <p:nvPr/>
        </p:nvSpPr>
        <p:spPr>
          <a:xfrm>
            <a:off x="5897880" y="4965192"/>
            <a:ext cx="155448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971032" y="5065776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мінім.</a:t>
            </a:r>
            <a:endParaRPr lang="en-US" sz="1120" dirty="0"/>
          </a:p>
        </p:txBody>
      </p:sp>
      <p:sp>
        <p:nvSpPr>
          <p:cNvPr id="78" name="Shape 76"/>
          <p:cNvSpPr/>
          <p:nvPr/>
        </p:nvSpPr>
        <p:spPr>
          <a:xfrm>
            <a:off x="7543800" y="4965192"/>
            <a:ext cx="192024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616952" y="5065776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/ geo</a:t>
            </a:r>
            <a:endParaRPr lang="en-US" sz="1120" dirty="0"/>
          </a:p>
        </p:txBody>
      </p:sp>
      <p:sp>
        <p:nvSpPr>
          <p:cNvPr id="80" name="Shape 78"/>
          <p:cNvSpPr/>
          <p:nvPr/>
        </p:nvSpPr>
        <p:spPr>
          <a:xfrm>
            <a:off x="9555480" y="4965192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51E33"/>
          </a:solidFill>
          <a:ln w="12700">
            <a:solidFill>
              <a:srgbClr val="151E33">
                <a:alpha val="0"/>
              </a:srgbClr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628632" y="5065776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</a:t>
            </a:r>
            <a:endParaRPr lang="en-US" sz="1120" dirty="0"/>
          </a:p>
        </p:txBody>
      </p:sp>
      <p:sp>
        <p:nvSpPr>
          <p:cNvPr id="82" name="Shape 80"/>
          <p:cNvSpPr/>
          <p:nvPr/>
        </p:nvSpPr>
        <p:spPr>
          <a:xfrm>
            <a:off x="685800" y="5824728"/>
            <a:ext cx="10515600" cy="329184"/>
          </a:xfrm>
          <a:prstGeom prst="roundRect">
            <a:avLst>
              <a:gd name="adj" fmla="val 27778"/>
            </a:avLst>
          </a:prstGeom>
          <a:solidFill>
            <a:srgbClr val="07101D"/>
          </a:solidFill>
          <a:ln w="12700">
            <a:solidFill>
              <a:srgbClr val="07101D">
                <a:alpha val="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68680" y="5888736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навчального Express API природна стартова точка — PaaS.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Контейнер — універсальний артефакт доставки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образ збираємо один раз, тестуємо і просуваємо між середовищами.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2148840" cy="2011680"/>
          </a:xfrm>
          <a:prstGeom prst="roundRect">
            <a:avLst>
              <a:gd name="adj" fmla="val 9091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249424"/>
            <a:ext cx="1819656" cy="347472"/>
          </a:xfrm>
          <a:prstGeom prst="roundRect">
            <a:avLst>
              <a:gd name="adj" fmla="val 31579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3042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816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commit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62656" y="3054096"/>
            <a:ext cx="420624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47872" y="2057400"/>
            <a:ext cx="2148840" cy="2011680"/>
          </a:xfrm>
          <a:prstGeom prst="roundRect">
            <a:avLst>
              <a:gd name="adj" fmla="val 9091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2249424"/>
            <a:ext cx="1819656" cy="347472"/>
          </a:xfrm>
          <a:prstGeom prst="roundRect">
            <a:avLst>
              <a:gd name="adj" fmla="val 31579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12464" y="23042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816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803904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sha256:…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79008" y="3054096"/>
            <a:ext cx="420624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64224" y="2057400"/>
            <a:ext cx="2148840" cy="2011680"/>
          </a:xfrm>
          <a:prstGeom prst="roundRect">
            <a:avLst>
              <a:gd name="adj" fmla="val 9091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8816" y="2249424"/>
            <a:ext cx="1819656" cy="347472"/>
          </a:xfrm>
          <a:prstGeom prst="roundRect">
            <a:avLst>
              <a:gd name="adj" fmla="val 31579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28816" y="23042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2816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620256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той самий digest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95360" y="3054096"/>
            <a:ext cx="420624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80576" y="2057400"/>
            <a:ext cx="2148840" cy="2011680"/>
          </a:xfrm>
          <a:prstGeom prst="roundRect">
            <a:avLst>
              <a:gd name="adj" fmla="val 9091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45168" y="2249424"/>
            <a:ext cx="1819656" cy="347472"/>
          </a:xfrm>
          <a:prstGeom prst="roundRect">
            <a:avLst>
              <a:gd name="adj" fmla="val 31579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45168" y="23042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81744" y="2816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436608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той самий digest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828800" y="4773168"/>
            <a:ext cx="8503920" cy="868680"/>
          </a:xfrm>
          <a:prstGeom prst="roundRect">
            <a:avLst>
              <a:gd name="adj" fmla="val 18947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40280" y="48646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1×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5349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збираємо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48646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5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N×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5349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запускаємо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8646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min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5349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відкат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49560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Незмінний артефакт = відтворюваність + швидкий rollback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DOCKERFILE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Multi-stage build: залишаємо тільки runtime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Фінальний образ менший, швидший і має меншу поверхню атаки.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5230368" cy="4160520"/>
          </a:xfrm>
          <a:prstGeom prst="roundRect">
            <a:avLst>
              <a:gd name="adj" fmla="val 3956"/>
            </a:avLst>
          </a:prstGeom>
          <a:solidFill>
            <a:srgbClr val="07101D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0574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066544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60604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42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AS builder</a:t>
            </a:r>
            <a:endParaRPr lang="en-US" sz="133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99923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3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92424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33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785616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55D6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33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178808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</a:t>
            </a:r>
            <a:endParaRPr lang="en-US" sz="133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57200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55D6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5230368" cy="4160520"/>
          </a:xfrm>
          <a:prstGeom prst="roundRect">
            <a:avLst>
              <a:gd name="adj" fmla="val 3956"/>
            </a:avLst>
          </a:prstGeom>
          <a:solidFill>
            <a:srgbClr val="07101D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20574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06654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606040"/>
            <a:ext cx="4498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42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AS runtime</a:t>
            </a:r>
            <a:endParaRPr lang="en-US" sz="127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999232"/>
            <a:ext cx="4498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F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lang="en-US" sz="127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392424"/>
            <a:ext cx="4498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5D6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</a:t>
            </a:r>
            <a:endParaRPr lang="en-US" sz="127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785616"/>
            <a:ext cx="4498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/app/dist ./dist</a:t>
            </a:r>
            <a:endParaRPr lang="en-US" sz="127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178808"/>
            <a:ext cx="4498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F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</a:t>
            </a:r>
            <a:endParaRPr lang="en-US" sz="127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572000"/>
            <a:ext cx="4498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5D6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"dist/index.js"]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5897880" y="3840480"/>
            <a:ext cx="347472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285232" y="33649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 + prod deps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536192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PRODUCTION-READY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має бути готовим до платформи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Шість практик, які роблять Node.js застосунок переносним між середовищами.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856232"/>
            <a:ext cx="5102352" cy="950976"/>
          </a:xfrm>
          <a:prstGeom prst="roundRect">
            <a:avLst>
              <a:gd name="adj" fmla="val 15385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0574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14884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0025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NODE_ENV=production</a:t>
            </a:r>
            <a:endParaRPr lang="en-US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23682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правильні оптимізації та поведінка залежностей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144768" y="1856232"/>
            <a:ext cx="5102352" cy="950976"/>
          </a:xfrm>
          <a:prstGeom prst="roundRect">
            <a:avLst>
              <a:gd name="adj" fmla="val 15385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20574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7648" y="214884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20025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JSON-логи у stdout</a:t>
            </a:r>
            <a:endParaRPr lang="en-US" sz="162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3682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платформа збирає й індексує потік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58368" y="3090672"/>
            <a:ext cx="5102352" cy="950976"/>
          </a:xfrm>
          <a:prstGeom prst="roundRect">
            <a:avLst>
              <a:gd name="adj" fmla="val 15385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29184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38328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323697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Graceful shutdown</a:t>
            </a:r>
            <a:endParaRPr lang="en-US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36027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SIGTERM → stop traffic → close resources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144768" y="3090672"/>
            <a:ext cx="5102352" cy="950976"/>
          </a:xfrm>
          <a:prstGeom prst="roundRect">
            <a:avLst>
              <a:gd name="adj" fmla="val 15385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329184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27648" y="338328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323697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/healthz + /readyz</a:t>
            </a:r>
            <a:endParaRPr lang="en-US" sz="1620" dirty="0"/>
          </a:p>
        </p:txBody>
      </p:sp>
      <p:sp>
        <p:nvSpPr>
          <p:cNvPr id="29" name="Text 27"/>
          <p:cNvSpPr txBox="1"/>
          <p:nvPr/>
        </p:nvSpPr>
        <p:spPr>
          <a:xfrm>
            <a:off x="7059168" y="36027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окремо живучість і готовність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658368" y="4325112"/>
            <a:ext cx="5102352" cy="950976"/>
          </a:xfrm>
          <a:prstGeom prst="roundRect">
            <a:avLst>
              <a:gd name="adj" fmla="val 15385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452628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248" y="461772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572768" y="4471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ENV-конфігурація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1572768" y="48371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жодних production-значень у коді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6144768" y="4325112"/>
            <a:ext cx="5102352" cy="950976"/>
          </a:xfrm>
          <a:prstGeom prst="roundRect">
            <a:avLst>
              <a:gd name="adj" fmla="val 15385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452628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461772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059168" y="4471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Non-root container</a:t>
            </a:r>
            <a:endParaRPr lang="en-US" sz="162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48371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node зменшує ризик атаки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248156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2481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ЖИТТЄВИЙ ЦИКЛ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Graceful shutdown: завершитись коректно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Платформа не «вбиває» процес несподівано — вона надсилає SIGTERM і чекає.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" y="2148840"/>
            <a:ext cx="1874520" cy="1280160"/>
          </a:xfrm>
          <a:prstGeom prst="roundRect">
            <a:avLst>
              <a:gd name="adj" fmla="val 12857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" y="2377440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2386584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SIGTERM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сигнал від платформи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96312" y="2788920"/>
            <a:ext cx="338328" cy="0"/>
          </a:xfrm>
          <a:prstGeom prst="line">
            <a:avLst/>
          </a:prstGeom>
          <a:noFill/>
          <a:ln w="3175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89504" y="2148840"/>
            <a:ext cx="1874520" cy="1280160"/>
          </a:xfrm>
          <a:prstGeom prst="roundRect">
            <a:avLst>
              <a:gd name="adj" fmla="val 12857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248" y="2377440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27248" y="2386584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072384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приймати нові запити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9744" y="2788920"/>
            <a:ext cx="338328" cy="0"/>
          </a:xfrm>
          <a:prstGeom prst="line">
            <a:avLst/>
          </a:prstGeom>
          <a:noFill/>
          <a:ln w="3175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02936" y="2148840"/>
            <a:ext cx="1874520" cy="1280160"/>
          </a:xfrm>
          <a:prstGeom prst="roundRect">
            <a:avLst>
              <a:gd name="adj" fmla="val 12857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2377440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2386584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DRAIN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385816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дочекатися активних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23176" y="2788920"/>
            <a:ext cx="338328" cy="0"/>
          </a:xfrm>
          <a:prstGeom prst="line">
            <a:avLst/>
          </a:prstGeom>
          <a:noFill/>
          <a:ln w="3175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16368" y="2148840"/>
            <a:ext cx="1874520" cy="1280160"/>
          </a:xfrm>
          <a:prstGeom prst="roundRect">
            <a:avLst>
              <a:gd name="adj" fmla="val 12857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2377440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54112" y="2386584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699248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БД, черги, sockets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36608" y="2788920"/>
            <a:ext cx="338328" cy="0"/>
          </a:xfrm>
          <a:prstGeom prst="line">
            <a:avLst/>
          </a:prstGeom>
          <a:noFill/>
          <a:ln w="3175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29800" y="2148840"/>
            <a:ext cx="1874520" cy="1280160"/>
          </a:xfrm>
          <a:prstGeom prst="roundRect">
            <a:avLst>
              <a:gd name="adj" fmla="val 12857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67544" y="2377440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67544" y="2386584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0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01268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успішне завершення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234440" y="4160520"/>
            <a:ext cx="9646920" cy="1325880"/>
          </a:xfrm>
          <a:prstGeom prst="roundRect">
            <a:avLst>
              <a:gd name="adj" fmla="val 12414"/>
            </a:avLst>
          </a:prstGeom>
          <a:solidFill>
            <a:srgbClr val="07101D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72768" y="4443984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2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process.on('SIGTERM', () =&gt; shutdown('SIGTERM'));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1572768" y="48920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A9B7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 shutdown: server.close() → prisma.$disconnect() → process.exit(0)</a:t>
            </a:r>
            <a:endParaRPr lang="en-US" sz="133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8155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цього запити обриваються, транзакції лишаються незавершеними.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248156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2481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CHECKS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Живий ≠ готовий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Liveness і readiness відповідають на різні питання та запускають різні реакції платформи.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5074920" cy="3401568"/>
          </a:xfrm>
          <a:prstGeom prst="roundRect">
            <a:avLst>
              <a:gd name="adj" fmla="val 4301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74520"/>
            <a:ext cx="54864" cy="3401568"/>
          </a:xfrm>
          <a:prstGeom prst="rect">
            <a:avLst/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039112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/healthz • liveness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587752"/>
            <a:ext cx="46177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Питання: чи Event Loop реагує?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Перевірка: проста відповідь HTTP 200.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Якщо FAIL кілька разів: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платформа перезапускає контейнер.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53328" y="1874520"/>
            <a:ext cx="5074920" cy="3401568"/>
          </a:xfrm>
          <a:prstGeom prst="roundRect">
            <a:avLst>
              <a:gd name="adj" fmla="val 4301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1874520"/>
            <a:ext cx="54864" cy="340156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2039112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/readyz • readiness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587752"/>
            <a:ext cx="46177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Питання: чи можна давати трафік?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Перевірка: критичні залежності доступні.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Якщо FAIL: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інстанс прибирають із load balancer.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79592" y="2084832"/>
            <a:ext cx="0" cy="2788920"/>
          </a:xfrm>
          <a:prstGeom prst="line">
            <a:avLst/>
          </a:prstGeom>
          <a:noFill/>
          <a:ln w="17780">
            <a:solidFill>
              <a:srgbClr val="2C3C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5623560"/>
            <a:ext cx="8046720" cy="457200"/>
          </a:xfrm>
          <a:prstGeom prst="roundRect">
            <a:avLst>
              <a:gd name="adj" fmla="val 28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572414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робіть liveness залежним від БД: інакше збій БД спричинить restart storm.</a:t>
            </a:r>
            <a:endParaRPr lang="en-US" sz="12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СЕКРЕТИ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`.env` — для локальної розробки, не для production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Секрети мають жити у централізованому сховищі платформи або secret manager.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4800600" cy="3584448"/>
          </a:xfrm>
          <a:prstGeom prst="roundRect">
            <a:avLst>
              <a:gd name="adj" fmla="val 4592"/>
            </a:avLst>
          </a:prstGeom>
          <a:solidFill>
            <a:srgbClr val="151E33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2140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13055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НЕБЕЗПЕЧНО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 у Git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секрет лишається в git history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ручна доставка на сервер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синхронізація між інстансами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немає аудиту та ротації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96712" y="3602736"/>
            <a:ext cx="594360" cy="0"/>
          </a:xfrm>
          <a:prstGeom prst="line">
            <a:avLst/>
          </a:prstGeom>
          <a:noFill/>
          <a:ln w="38100">
            <a:solidFill>
              <a:srgbClr val="42D7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37960" y="1874520"/>
            <a:ext cx="4937760" cy="3584448"/>
          </a:xfrm>
          <a:prstGeom prst="roundRect">
            <a:avLst>
              <a:gd name="adj" fmla="val 4592"/>
            </a:avLst>
          </a:prstGeom>
          <a:solidFill>
            <a:srgbClr val="1C2944"/>
          </a:solidFill>
          <a:ln w="12700">
            <a:solidFill>
              <a:srgbClr val="55D6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2121408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13055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manager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2280" y="324612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 інʼєкція під час запуску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IAM: мінімальні права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аудит доступу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ротація без зміни коду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7972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Secrets Manager • GCP Secret Manager • Vault • secrets платформи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Автоматизована доставка: build once, deploy many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перетворює commit на перевірений незмінний артефакт.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1901952" cy="1389888"/>
          </a:xfrm>
          <a:prstGeom prst="roundRect">
            <a:avLst>
              <a:gd name="adj" fmla="val 1052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2402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E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9718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push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41448" y="2770632"/>
            <a:ext cx="320040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16352" y="2084832"/>
            <a:ext cx="1901952" cy="1389888"/>
          </a:xfrm>
          <a:prstGeom prst="roundRect">
            <a:avLst>
              <a:gd name="adj" fmla="val 1052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80944" y="22402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980944" y="29718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 + test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770632"/>
            <a:ext cx="320040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9784" y="2084832"/>
            <a:ext cx="1901952" cy="1389888"/>
          </a:xfrm>
          <a:prstGeom prst="roundRect">
            <a:avLst>
              <a:gd name="adj" fmla="val 1052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94376" y="22402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94376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94376" y="29718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68312" y="2770632"/>
            <a:ext cx="320040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43216" y="2084832"/>
            <a:ext cx="1901952" cy="1389888"/>
          </a:xfrm>
          <a:prstGeom prst="roundRect">
            <a:avLst>
              <a:gd name="adj" fmla="val 1052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07808" y="22402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6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607808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07808" y="29718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+ digest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81744" y="2770632"/>
            <a:ext cx="320040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56648" y="2084832"/>
            <a:ext cx="1901952" cy="1389888"/>
          </a:xfrm>
          <a:prstGeom prst="roundRect">
            <a:avLst>
              <a:gd name="adj" fmla="val 10526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21240" y="22402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921240" y="29718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→ prod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4069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Стратегії релізу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" y="4590288"/>
            <a:ext cx="3401568" cy="1078992"/>
          </a:xfrm>
          <a:prstGeom prst="roundRect">
            <a:avLst>
              <a:gd name="adj" fmla="val 13559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8280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33856" y="4736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" y="5093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поетапна заміна інстансів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52544" y="4590288"/>
            <a:ext cx="3401568" cy="1078992"/>
          </a:xfrm>
          <a:prstGeom prst="roundRect">
            <a:avLst>
              <a:gd name="adj" fmla="val 13559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17136" y="48280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28032" y="4736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Blue/Green</a:t>
            </a:r>
            <a:endParaRPr lang="en-US" sz="1550" dirty="0"/>
          </a:p>
        </p:txBody>
      </p:sp>
      <p:sp>
        <p:nvSpPr>
          <p:cNvPr id="42" name="Text 40"/>
          <p:cNvSpPr txBox="1"/>
          <p:nvPr/>
        </p:nvSpPr>
        <p:spPr>
          <a:xfrm>
            <a:off x="4828032" y="5093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миттєве перемикання середовищ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46720" y="4590288"/>
            <a:ext cx="3401568" cy="1078992"/>
          </a:xfrm>
          <a:prstGeom prst="roundRect">
            <a:avLst>
              <a:gd name="adj" fmla="val 13559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11312" y="48280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22208" y="4736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</a:t>
            </a:r>
            <a:endParaRPr lang="en-US" sz="1550" dirty="0"/>
          </a:p>
        </p:txBody>
      </p:sp>
      <p:sp>
        <p:nvSpPr>
          <p:cNvPr id="46" name="Text 44"/>
          <p:cNvSpPr txBox="1"/>
          <p:nvPr/>
        </p:nvSpPr>
        <p:spPr>
          <a:xfrm>
            <a:off x="8522208" y="5093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нова версія для частини трафіку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828800" y="5934456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— штатна операція, а не аварійна імпровізація.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248156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2481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Три сигнали — одна картина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Метрика знаходить проблему, trace локалізує її, лог пояснює причину.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920240"/>
            <a:ext cx="3401568" cy="2331720"/>
          </a:xfrm>
          <a:prstGeom prst="roundRect">
            <a:avLst>
              <a:gd name="adj" fmla="val 7843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216712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5256" y="22677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1579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9900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сталося?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5387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події • stack trace • request_id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1920240"/>
            <a:ext cx="3401568" cy="2331720"/>
          </a:xfrm>
          <a:prstGeom prst="roundRect">
            <a:avLst>
              <a:gd name="adj" fmla="val 7843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216712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0288" y="22677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22392" y="21579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29900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5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змінюється?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35387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RPS • errors • latency • CPU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28432" y="1920240"/>
            <a:ext cx="3401568" cy="2331720"/>
          </a:xfrm>
          <a:prstGeom prst="roundRect">
            <a:avLst>
              <a:gd name="adj" fmla="val 7843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216712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22677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107424" y="21579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29900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6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 затримка?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35387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шлях запиту • spans • trace_id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0" y="4892040"/>
            <a:ext cx="2148840" cy="685800"/>
          </a:xfrm>
          <a:prstGeom prst="roundRect">
            <a:avLst>
              <a:gd name="adj" fmla="val 21333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11680" y="5074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5xx ↑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51960" y="5230368"/>
            <a:ext cx="530352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937760" y="4892040"/>
            <a:ext cx="2148840" cy="685800"/>
          </a:xfrm>
          <a:prstGeom prst="roundRect">
            <a:avLst>
              <a:gd name="adj" fmla="val 21333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5074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 trace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178040" y="5230368"/>
            <a:ext cx="530352" cy="0"/>
          </a:xfrm>
          <a:prstGeom prst="line">
            <a:avLst/>
          </a:prstGeom>
          <a:noFill/>
          <a:ln w="25400">
            <a:solidFill>
              <a:srgbClr val="2C3C5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863840" y="4892040"/>
            <a:ext cx="2148840" cy="685800"/>
          </a:xfrm>
          <a:prstGeom prst="roundRect">
            <a:avLst>
              <a:gd name="adj" fmla="val 21333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63840" y="5074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timeout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5897880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OpenTelemetry — вендор-нейтральний стандарт інструментування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up чи scale out?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Вертикальне масштабування простіше. Горизонтальне дає еластичність і відмовостійкість.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4892040" cy="3493008"/>
          </a:xfrm>
          <a:prstGeom prst="roundRect">
            <a:avLst>
              <a:gd name="adj" fmla="val 4712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14884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157984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UP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70662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інстанс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78992" y="429768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6272" y="3977640"/>
            <a:ext cx="685800" cy="822960"/>
          </a:xfrm>
          <a:prstGeom prst="roundRect">
            <a:avLst>
              <a:gd name="adj" fmla="val 10667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3552" y="3611880"/>
            <a:ext cx="685800" cy="1188720"/>
          </a:xfrm>
          <a:prstGeom prst="roundRect">
            <a:avLst>
              <a:gd name="adj" fmla="val 10667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41648" y="38862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більше CPU / RAM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9560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Просто, але є межа і single point of failure.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70448" y="1901952"/>
            <a:ext cx="5330952" cy="3493008"/>
          </a:xfrm>
          <a:prstGeom prst="roundRect">
            <a:avLst>
              <a:gd name="adj" fmla="val 4712"/>
            </a:avLst>
          </a:prstGeom>
          <a:solidFill>
            <a:srgbClr val="1C2944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214884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44768" y="2157984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OUT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270662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інстансів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00800" y="3410712"/>
            <a:ext cx="4160520" cy="393192"/>
          </a:xfrm>
          <a:prstGeom prst="roundRect">
            <a:avLst>
              <a:gd name="adj" fmla="val 34884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49300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BALANCER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58200" y="3813048"/>
            <a:ext cx="-2011680" cy="411480"/>
          </a:xfrm>
          <a:prstGeom prst="line">
            <a:avLst/>
          </a:prstGeom>
          <a:noFill/>
          <a:ln w="20320">
            <a:solidFill>
              <a:srgbClr val="2C3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233672"/>
            <a:ext cx="914400" cy="530352"/>
          </a:xfrm>
          <a:prstGeom prst="roundRect">
            <a:avLst>
              <a:gd name="adj" fmla="val 2069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3813048"/>
            <a:ext cx="-640080" cy="411480"/>
          </a:xfrm>
          <a:prstGeom prst="line">
            <a:avLst/>
          </a:prstGeom>
          <a:noFill/>
          <a:ln w="20320">
            <a:solidFill>
              <a:srgbClr val="2C3C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4233672"/>
            <a:ext cx="914400" cy="530352"/>
          </a:xfrm>
          <a:prstGeom prst="roundRect">
            <a:avLst>
              <a:gd name="adj" fmla="val 2069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58200" y="3813048"/>
            <a:ext cx="731520" cy="411480"/>
          </a:xfrm>
          <a:prstGeom prst="line">
            <a:avLst/>
          </a:prstGeom>
          <a:noFill/>
          <a:ln w="20320">
            <a:solidFill>
              <a:srgbClr val="2C3C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9720" y="4233672"/>
            <a:ext cx="914400" cy="530352"/>
          </a:xfrm>
          <a:prstGeom prst="roundRect">
            <a:avLst>
              <a:gd name="adj" fmla="val 2069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972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49560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Еластично, але застосунок має бути stateless.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5806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Autoscaling: CPU / RPS ↑ → додати інстанс • навантаження ↓ → прибрати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Виносимо стан — знаходимо нове вузьке місце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Застосунок масштабується легко, але база даних і пул з’єднань — ні.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121408"/>
            <a:ext cx="960120" cy="685800"/>
          </a:xfrm>
          <a:prstGeom prst="roundRect">
            <a:avLst>
              <a:gd name="adj" fmla="val 18667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3134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98448" y="2816352"/>
            <a:ext cx="0" cy="685800"/>
          </a:xfrm>
          <a:prstGeom prst="line">
            <a:avLst/>
          </a:prstGeom>
          <a:noFill/>
          <a:ln w="19050">
            <a:solidFill>
              <a:srgbClr val="2C3C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12848" y="2121408"/>
            <a:ext cx="960120" cy="685800"/>
          </a:xfrm>
          <a:prstGeom prst="roundRect">
            <a:avLst>
              <a:gd name="adj" fmla="val 18667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12848" y="23134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88336" y="2816352"/>
            <a:ext cx="0" cy="685800"/>
          </a:xfrm>
          <a:prstGeom prst="line">
            <a:avLst/>
          </a:prstGeom>
          <a:noFill/>
          <a:ln w="19050">
            <a:solidFill>
              <a:srgbClr val="2C3C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2736" y="2121408"/>
            <a:ext cx="960120" cy="685800"/>
          </a:xfrm>
          <a:prstGeom prst="roundRect">
            <a:avLst>
              <a:gd name="adj" fmla="val 18667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02736" y="23134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78224" y="2816352"/>
            <a:ext cx="0" cy="685800"/>
          </a:xfrm>
          <a:prstGeom prst="line">
            <a:avLst/>
          </a:prstGeom>
          <a:noFill/>
          <a:ln w="19050">
            <a:solidFill>
              <a:srgbClr val="2C3C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47872"/>
            <a:ext cx="4160520" cy="640080"/>
          </a:xfrm>
          <a:prstGeom prst="roundRect">
            <a:avLst>
              <a:gd name="adj" fmla="val 21429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73075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• Object Storage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3708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сесії • кеш • файли • rate limits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3154680"/>
            <a:ext cx="73152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89320" y="1965960"/>
            <a:ext cx="1901952" cy="2514600"/>
          </a:xfrm>
          <a:prstGeom prst="roundRect">
            <a:avLst>
              <a:gd name="adj" fmla="val 8654"/>
            </a:avLst>
          </a:prstGeom>
          <a:solidFill>
            <a:srgbClr val="151E33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231136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2240280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8803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PgBouncer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RDS Proxy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 Accelerate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10144" y="3154680"/>
            <a:ext cx="59436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87968" y="1965960"/>
            <a:ext cx="2331720" cy="2514600"/>
          </a:xfrm>
          <a:prstGeom prst="roundRect">
            <a:avLst>
              <a:gd name="adj" fmla="val 7059"/>
            </a:avLst>
          </a:prstGeom>
          <a:solidFill>
            <a:srgbClr val="1C2944"/>
          </a:solidFill>
          <a:ln w="12700">
            <a:solidFill>
              <a:srgbClr val="5E8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82328" y="2359152"/>
            <a:ext cx="1143000" cy="1097280"/>
          </a:xfrm>
          <a:prstGeom prst="can">
            <a:avLst/>
          </a:prstGeom>
          <a:solidFill>
            <a:srgbClr val="5E8CFF"/>
          </a:solidFill>
          <a:ln w="12700">
            <a:solidFill>
              <a:srgbClr val="5E8C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70848" y="3675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DB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035040" y="5010912"/>
            <a:ext cx="5138928" cy="530352"/>
          </a:xfrm>
          <a:prstGeom prst="roundRect">
            <a:avLst>
              <a:gd name="adj" fmla="val 24138"/>
            </a:avLst>
          </a:prstGeom>
          <a:solidFill>
            <a:srgbClr val="07101D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6208" y="51389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інстансів × 10 connections = ліміт БД вичерпано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87044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replicas масштабують читання; записи все одно йдуть у primary.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ПРАКТИКА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Обери платформу для сценарію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Спочатку знайди архітектурні обмеження. Потім оцінюй контроль, команду й бюджет.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1874520"/>
            <a:ext cx="5166360" cy="969264"/>
          </a:xfrm>
          <a:prstGeom prst="roundRect">
            <a:avLst>
              <a:gd name="adj" fmla="val 15094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039112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4712" y="1993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/ навчальний API</a:t>
            </a:r>
            <a:endParaRPr lang="en-US" sz="152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" y="24048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• Railway • Fly.io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67912" y="21945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20370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2" y="1874520"/>
            <a:ext cx="5166360" cy="969264"/>
          </a:xfrm>
          <a:prstGeom prst="roundRect">
            <a:avLst>
              <a:gd name="adj" fmla="val 15094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2039112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1993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 / real-time</a:t>
            </a:r>
            <a:endParaRPr lang="en-US" sz="1520" dirty="0"/>
          </a:p>
        </p:txBody>
      </p:sp>
      <p:sp>
        <p:nvSpPr>
          <p:cNvPr id="19" name="Text 17"/>
          <p:cNvSpPr txBox="1"/>
          <p:nvPr/>
        </p:nvSpPr>
        <p:spPr>
          <a:xfrm>
            <a:off x="6656832" y="24048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довгоживучий процес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00032" y="21945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00032" y="220370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 АБО IAAS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" y="3127248"/>
            <a:ext cx="5166360" cy="969264"/>
          </a:xfrm>
          <a:prstGeom prst="roundRect">
            <a:avLst>
              <a:gd name="adj" fmla="val 15094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3291840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24712" y="3246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/ подія / cron</a:t>
            </a:r>
            <a:endParaRPr lang="en-US" sz="152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" y="36576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• Vercel Functions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67912" y="344728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67912" y="34564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53912" y="3127248"/>
            <a:ext cx="5166360" cy="969264"/>
          </a:xfrm>
          <a:prstGeom prst="roundRect">
            <a:avLst>
              <a:gd name="adj" fmla="val 15094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18504" y="3291840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56832" y="3246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Десятки мікросервісів</a:t>
            </a:r>
            <a:endParaRPr lang="en-US" sz="1520" dirty="0"/>
          </a:p>
        </p:txBody>
      </p:sp>
      <p:sp>
        <p:nvSpPr>
          <p:cNvPr id="31" name="Text 29"/>
          <p:cNvSpPr txBox="1"/>
          <p:nvPr/>
        </p:nvSpPr>
        <p:spPr>
          <a:xfrm>
            <a:off x="6656832" y="36576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єдина площина керування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400032" y="344728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00032" y="34564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" y="4379976"/>
            <a:ext cx="5166360" cy="969264"/>
          </a:xfrm>
          <a:prstGeom prst="roundRect">
            <a:avLst>
              <a:gd name="adj" fmla="val 15094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4544568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24712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/ geo middleware</a:t>
            </a:r>
            <a:endParaRPr lang="en-US" sz="152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" y="4910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Workers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867912" y="470001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67912" y="470916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53912" y="4379976"/>
            <a:ext cx="5166360" cy="969264"/>
          </a:xfrm>
          <a:prstGeom prst="roundRect">
            <a:avLst>
              <a:gd name="adj" fmla="val 15094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18504" y="4544568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56832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Регуляторні вимоги</a:t>
            </a:r>
            <a:endParaRPr lang="en-US" sz="1520" dirty="0"/>
          </a:p>
        </p:txBody>
      </p:sp>
      <p:sp>
        <p:nvSpPr>
          <p:cNvPr id="43" name="Text 41"/>
          <p:cNvSpPr txBox="1"/>
          <p:nvPr/>
        </p:nvSpPr>
        <p:spPr>
          <a:xfrm>
            <a:off x="6656832" y="4910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повний контроль мережі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400032" y="470001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00032" y="470916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78992" y="5650992"/>
            <a:ext cx="9985248" cy="475488"/>
          </a:xfrm>
          <a:prstGeom prst="roundRect">
            <a:avLst>
              <a:gd name="adj" fmla="val 26923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325880" y="5760720"/>
            <a:ext cx="9464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Командне завдання: аргументуйте вибір і назвіть головний компроміс.</a:t>
            </a:r>
            <a:endParaRPr lang="en-US" sz="13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7E8"/>
          </a:solidFill>
          <a:ln w="12700">
            <a:solidFill>
              <a:srgbClr val="42D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74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C2944"/>
          </a:solidFill>
          <a:ln w="12700">
            <a:solidFill>
              <a:srgbClr val="1C294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2834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ПІДСУМКИ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C3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71323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Чотири рівні рішення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— не місце, куди копіюють код. Це система інженерних домовленостей.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874520"/>
            <a:ext cx="10012680" cy="694944"/>
          </a:xfrm>
          <a:prstGeom prst="roundRect">
            <a:avLst>
              <a:gd name="adj" fmla="val 21053"/>
            </a:avLst>
          </a:prstGeom>
          <a:solidFill>
            <a:srgbClr val="1C2944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" y="1993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5D6A5"/>
          </a:solidFill>
          <a:ln w="12700">
            <a:solidFill>
              <a:srgbClr val="55D6A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2084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19933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виконання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9933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• FaaS • edge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78992" y="2770632"/>
            <a:ext cx="9500616" cy="694944"/>
          </a:xfrm>
          <a:prstGeom prst="roundRect">
            <a:avLst>
              <a:gd name="adj" fmla="val 21053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9304" y="2889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E8CFF"/>
          </a:solidFill>
          <a:ln w="12700">
            <a:solidFill>
              <a:srgbClr val="5E8C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9304" y="29809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47672" y="28895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Категорія платформи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919472" y="2889504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 • PaaS • K8s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35024" y="3666744"/>
            <a:ext cx="8988552" cy="694944"/>
          </a:xfrm>
          <a:prstGeom prst="roundRect">
            <a:avLst>
              <a:gd name="adj" fmla="val 21053"/>
            </a:avLst>
          </a:prstGeom>
          <a:solidFill>
            <a:srgbClr val="1C2944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5336" y="37856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45336" y="38770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203704" y="378561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Production-ready код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084064" y="37856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 • logs • signals • probes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591056" y="4562856"/>
            <a:ext cx="8476488" cy="694944"/>
          </a:xfrm>
          <a:prstGeom prst="roundRect">
            <a:avLst>
              <a:gd name="adj" fmla="val 21053"/>
            </a:avLst>
          </a:prstGeom>
          <a:solidFill>
            <a:srgbClr val="151E33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01368" y="46817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67CFF"/>
          </a:solidFill>
          <a:ln w="12700">
            <a:solidFill>
              <a:srgbClr val="A67C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01368" y="4773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459736" y="46817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Операційні процеси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248656" y="468172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A9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• rollback • observability • scaling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600200" y="5742432"/>
            <a:ext cx="9006840" cy="475488"/>
          </a:xfrm>
          <a:prstGeom prst="roundRect">
            <a:avLst>
              <a:gd name="adj" fmla="val 26923"/>
            </a:avLst>
          </a:prstGeom>
          <a:solidFill>
            <a:srgbClr val="07101D"/>
          </a:solidFill>
          <a:ln w="12700">
            <a:solidFill>
              <a:srgbClr val="42D7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828800" y="5843016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Мета: повторюваний реліз, контрольований ризик, швидке відновлення.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GoIT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Розгортання Node.js застосунків</dc:title>
  <dc:subject>Розгортання Node.js застосунків у production</dc:subject>
  <dc:creator>GoIT</dc:creator>
  <cp:lastModifiedBy>GoIT</cp:lastModifiedBy>
  <cp:revision>1</cp:revision>
  <dcterms:created xsi:type="dcterms:W3CDTF">2026-08-13T14:32:19Z</dcterms:created>
  <dcterms:modified xsi:type="dcterms:W3CDTF">2026-08-13T14:32:19Z</dcterms:modified>
</cp:coreProperties>
</file>